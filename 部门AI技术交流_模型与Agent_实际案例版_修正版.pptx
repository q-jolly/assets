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开场：今天不讲模型参数，只讲一个最容易理解的区别——模型负责回答，Agent负责执行。,为了便于非技术同事理解，今天把 DeepSeek 和 ChatGPT 统一放在“模型/对话式AI”这一层来讲；严格说 ChatGPT 是产品，但不影响今天的演示口径。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这一页就是全场主线。后面所有内容都围绕这两层展开。,DeepSeek 和 ChatGPT 放第一层；Codex 和 WorkBuddy 放第二层，而且 Codex / WorkBuddy 是同一级的一类产品。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这一页不要讨论谁模型参数更大。只讲对普通同事最有感知的东西：DeepSeek更容易用；ChatGPT综合能力强，但国内门槛更高。,如果时间紧，价格只讲 DeepSeek 免费、ChatGPT Plus 20美元/月。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可以讲得最生活化：写文档、做PPT、Excel提取数据，大家都有经验。,重点不要说模型“不能生成文件”，而是强调传统对话使用方式下通常需要人继续复制、排版、筛选；Agent的价值是把这些操作串起来执行。,Excel例子可以结合人员接待统计：从原始名单提取住宿、用餐、接站信息，最后形成几个小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Agent的重点不是模型参数，而是它拥有“行动能力”。,把六步流程讲一遍，大家就能理解为什么 Codex 和 WorkBuddy 属于同一级别的一类产品。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这是整场第二重要的一页。用“问它”和“派活给它”两个词，非技术同事很好理解。,Codex仍然重点面向软件开发和技术工作，不要讲成通用办公Agent。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这一页明确回应核心：WorkBuddy和Codex确实放在同一层级。,区别只讲“工作对象不同”：Codex偏技术开发，WorkBuddy偏办公桌面和本地文件。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可以结合真实经历举例，但不要讲太专业。,Excel可以讲接待人员统计：原始名单里提取住宿、用餐、接站等字段；PPT可以讲把会议材料做成汇报；文档可以讲通知、总结和纪要。,网络科的例子放最后一句：模型帮助分析交换机输出；需要写自动化脚本时，可以进一步交给 Codex。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收尾：AI的发展方向不是越来越会聊天，而是越来越会完成任务。,最后补一句安全底线即可结束。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公共区管理部 · AI技术交流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927080" y="647395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2026.08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641080" y="0"/>
            <a:ext cx="3547872" cy="3547872"/>
          </a:xfrm>
          <a:prstGeom prst="ellipse">
            <a:avLst/>
          </a:prstGeom>
          <a:solidFill>
            <a:srgbClr val="1D4ED8">
              <a:alpha val="72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491472" y="4160520"/>
            <a:ext cx="2697480" cy="2697480"/>
          </a:xfrm>
          <a:prstGeom prst="ellipse">
            <a:avLst/>
          </a:prstGeom>
          <a:solidFill>
            <a:srgbClr val="7A5AF8">
              <a:alpha val="55000"/>
            </a:srgbClr>
          </a:solidFill>
          <a:ln w="12700">
            <a:solidFill>
              <a:srgbClr val="7A5AF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658368"/>
            <a:ext cx="1645920" cy="384048"/>
          </a:xfrm>
          <a:prstGeom prst="roundRect">
            <a:avLst/>
          </a:prstGeom>
          <a:solidFill>
            <a:srgbClr val="1D2939"/>
          </a:solidFill>
          <a:ln w="12700">
            <a:solidFill>
              <a:srgbClr val="1D293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0664" y="713232"/>
            <a:ext cx="1536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0D5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10分钟 · 非技术向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AI从“会回答”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到“会干活”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13232" y="33101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4A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只讲两层：模型 × Agent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3232" y="39776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0D5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/ ChatGPT  →  Codex / WorkBuddy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3232" y="57424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公共区管理部 AI 技术交流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整个AI办公，可以先只理解成两层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第一层“会想会答”，第二层“会规划、会调用工具、会执行”。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749808" y="1417320"/>
            <a:ext cx="10716768" cy="1874520"/>
          </a:xfrm>
          <a:prstGeom prst="roundRect">
            <a:avLst>
              <a:gd name="adj" fmla="val 3902"/>
            </a:avLst>
          </a:prstGeom>
          <a:solidFill>
            <a:srgbClr val="F0FDF4"/>
          </a:solidFill>
          <a:ln w="12700">
            <a:solidFill>
              <a:srgbClr val="F0FDF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24128" y="1673352"/>
            <a:ext cx="1965960" cy="384048"/>
          </a:xfrm>
          <a:prstGeom prst="roundRect">
            <a:avLst/>
          </a:prstGeom>
          <a:solidFill>
            <a:srgbClr val="D1FADF"/>
          </a:solidFill>
          <a:ln w="12700">
            <a:solidFill>
              <a:srgbClr val="D1FAD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78992" y="1728216"/>
            <a:ext cx="1856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 · 模型 / 对话式 AI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15568" y="2331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3703320" y="2331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ChatGPT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428232" y="23408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你问一个问题  →  它理解、推理、写作、总结、给方案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58968" y="3511296"/>
            <a:ext cx="1225296" cy="658368"/>
          </a:xfrm>
          <a:prstGeom prst="chevron">
            <a:avLst/>
          </a:prstGeom>
          <a:solidFill>
            <a:srgbClr val="B2CCFF"/>
          </a:solidFill>
          <a:ln w="12700">
            <a:solidFill>
              <a:srgbClr val="B2CCF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49808" y="4160520"/>
            <a:ext cx="10716768" cy="1627632"/>
          </a:xfrm>
          <a:prstGeom prst="roundRect">
            <a:avLst>
              <a:gd name="adj" fmla="val 4494"/>
            </a:avLst>
          </a:prstGeom>
          <a:solidFill>
            <a:srgbClr val="F5F3FF"/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24128" y="4407408"/>
            <a:ext cx="1298448" cy="38404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78992" y="4462272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 · Agent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15568" y="5029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3703320" y="5029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428232" y="5038344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你给一个目标  →  它规划步骤、调用工具、操作文件、检查并交付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5980176"/>
            <a:ext cx="10012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一句话：模型告诉你“怎么做” · Agent进一步替你“去做”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第一层：DeepSeek 和 ChatGPT，先理解成“会回答的AI”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核心价值：理解问题、生成内容、分析信息；国内实际使用门槛差异很明显。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768096" y="1444752"/>
            <a:ext cx="510235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24128" y="1709928"/>
            <a:ext cx="1664208" cy="384048"/>
          </a:xfrm>
          <a:prstGeom prst="roundRect">
            <a:avLst/>
          </a:prstGeom>
          <a:solidFill>
            <a:srgbClr val="D1FADF"/>
          </a:solidFill>
          <a:ln w="12700">
            <a:solidFill>
              <a:srgbClr val="D1FAD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78992" y="1764792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国内上手最轻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24128" y="22585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42416" y="298094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65376" y="2980944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普通网页 / APP：免费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1042416" y="3483864"/>
            <a:ext cx="448056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42416" y="371246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65376" y="3712464"/>
            <a:ext cx="35844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国内直接访问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1042416" y="4215384"/>
            <a:ext cx="448056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42416" y="444398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65376" y="4443984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 · 推理 · 写作 · 代码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1042416" y="4946904"/>
            <a:ext cx="448056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42416" y="517550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更适合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65376" y="5175504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适合部门普及、日常问答和材料处理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6327648" y="1444752"/>
            <a:ext cx="510235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583680" y="1709928"/>
            <a:ext cx="1664208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638544" y="1764792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综合体验更完整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0" y="22585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ChatGPT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601968" y="298094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24928" y="2980944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Free / Plus $20/月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6601968" y="3483864"/>
            <a:ext cx="448056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601968" y="371246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24928" y="3712464"/>
            <a:ext cx="35844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国内使用存在额外网络、账号与支付门槛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6601968" y="4215384"/>
            <a:ext cx="448056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601968" y="444398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强项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24928" y="4443984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 · 文件 · 搜索 · 研究 · 写作</a:t>
            </a:r>
            <a:endParaRPr lang="en-US" sz="1230" dirty="0"/>
          </a:p>
        </p:txBody>
      </p:sp>
      <p:sp>
        <p:nvSpPr>
          <p:cNvPr id="31" name="Shape 29"/>
          <p:cNvSpPr/>
          <p:nvPr/>
        </p:nvSpPr>
        <p:spPr>
          <a:xfrm>
            <a:off x="6601968" y="4946904"/>
            <a:ext cx="448056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601968" y="517550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更适合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24928" y="5175504"/>
            <a:ext cx="3584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适合高频用户、复杂信息处理与技术工作</a:t>
            </a:r>
            <a:endParaRPr lang="en-US" sz="1230" dirty="0"/>
          </a:p>
        </p:txBody>
      </p:sp>
      <p:sp>
        <p:nvSpPr>
          <p:cNvPr id="34" name="Text 32"/>
          <p:cNvSpPr/>
          <p:nvPr/>
        </p:nvSpPr>
        <p:spPr>
          <a:xfrm>
            <a:off x="1097280" y="601675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演讲口径：这两者都先当作“你问一句，它给你答案 / 内容 / 方案”的工具来理解。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85216" y="6190488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价格来源：OpenAI、DeepSeek 官方页面；查询日期 2026-08-18。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同样三件日常工作：模型和 Agent 差在哪？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Agent 一定“回答得更聪明”，而是它能把后续操作继续做下去。</a:t>
            </a:r>
            <a:endParaRPr lang="en-US" sz="1230" dirty="0"/>
          </a:p>
        </p:txBody>
      </p:sp>
      <p:sp>
        <p:nvSpPr>
          <p:cNvPr id="4" name="Text 2"/>
          <p:cNvSpPr/>
          <p:nvPr/>
        </p:nvSpPr>
        <p:spPr>
          <a:xfrm>
            <a:off x="868680" y="1426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886200" y="14264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· DeepSeek / ChatGPT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616952" y="14264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· Codex / WorkBuddy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49808" y="1810512"/>
            <a:ext cx="1071676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78408" y="2121408"/>
            <a:ext cx="530352" cy="53035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78408" y="21717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64208" y="199339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写文档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664208" y="235000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“根据这些材料写一份会议总结”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93592" y="1975104"/>
            <a:ext cx="0" cy="877824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886200" y="2048256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生成正文、标题和结构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你复制到 Word、再排版保存</a:t>
            </a:r>
            <a:endParaRPr lang="en-US" sz="1210" dirty="0"/>
          </a:p>
        </p:txBody>
      </p:sp>
      <p:sp>
        <p:nvSpPr>
          <p:cNvPr id="14" name="Shape 12"/>
          <p:cNvSpPr/>
          <p:nvPr/>
        </p:nvSpPr>
        <p:spPr>
          <a:xfrm>
            <a:off x="7242048" y="1975104"/>
            <a:ext cx="0" cy="877824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616952" y="204825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读取材料 → 写内容 → 排版</a:t>
            </a:r>
            <a:endParaRPr lang="en-US" sz="1210" dirty="0"/>
          </a:p>
          <a:p>
            <a:pPr indent="0" marL="0">
              <a:buNone/>
            </a:pPr>
            <a:r>
              <a:rPr lang="en-US" sz="121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直接生成 / 修改文档文件</a:t>
            </a:r>
            <a:endParaRPr lang="en-US" sz="1210" dirty="0"/>
          </a:p>
        </p:txBody>
      </p:sp>
      <p:sp>
        <p:nvSpPr>
          <p:cNvPr id="16" name="Shape 14"/>
          <p:cNvSpPr/>
          <p:nvPr/>
        </p:nvSpPr>
        <p:spPr>
          <a:xfrm>
            <a:off x="749808" y="3163824"/>
            <a:ext cx="1071676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78408" y="3474720"/>
            <a:ext cx="530352" cy="53035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78408" y="3525012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64208" y="334670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 PPT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664208" y="370332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“把这份材料做成 8 页汇报PPT”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593592" y="3328416"/>
            <a:ext cx="0" cy="877824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886200" y="340156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给大纲、每页文案、设计建议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你自己打开 PPT 制作</a:t>
            </a:r>
            <a:endParaRPr lang="en-US" sz="1210" dirty="0"/>
          </a:p>
        </p:txBody>
      </p:sp>
      <p:sp>
        <p:nvSpPr>
          <p:cNvPr id="23" name="Shape 21"/>
          <p:cNvSpPr/>
          <p:nvPr/>
        </p:nvSpPr>
        <p:spPr>
          <a:xfrm>
            <a:off x="7242048" y="3328416"/>
            <a:ext cx="0" cy="877824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616952" y="340156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读取材料 → 拆页 → 排版</a:t>
            </a:r>
            <a:endParaRPr lang="en-US" sz="1210" dirty="0"/>
          </a:p>
          <a:p>
            <a:pPr indent="0" marL="0">
              <a:buNone/>
            </a:pPr>
            <a:r>
              <a:rPr lang="en-US" sz="121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直接交付可编辑 PPT</a:t>
            </a:r>
            <a:endParaRPr lang="en-US" sz="1210" dirty="0"/>
          </a:p>
        </p:txBody>
      </p:sp>
      <p:sp>
        <p:nvSpPr>
          <p:cNvPr id="25" name="Shape 23"/>
          <p:cNvSpPr/>
          <p:nvPr/>
        </p:nvSpPr>
        <p:spPr>
          <a:xfrm>
            <a:off x="749808" y="4517136"/>
            <a:ext cx="1071676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78408" y="4828032"/>
            <a:ext cx="530352" cy="530352"/>
          </a:xfrm>
          <a:prstGeom prst="ellipse">
            <a:avLst/>
          </a:prstGeom>
          <a:solidFill>
            <a:srgbClr val="D1FADF"/>
          </a:solidFill>
          <a:ln w="12700">
            <a:solidFill>
              <a:srgbClr val="D1FAD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78408" y="4878324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664208" y="470001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Excel提取数据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664208" y="505663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“把名单里的住宿、用餐、接站人员统计出来”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593592" y="4681728"/>
            <a:ext cx="0" cy="877824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886200" y="475488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告诉你公式 / 分析结果 / 统计思路</a:t>
            </a:r>
            <a:endParaRPr lang="en-US" sz="1210" dirty="0"/>
          </a:p>
          <a:p>
            <a:pPr indent="0" marL="0">
              <a:buNone/>
            </a:pPr>
            <a:r>
              <a:rPr lang="en-US" sz="121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你继续筛选、复制、建表</a:t>
            </a:r>
            <a:endParaRPr lang="en-US" sz="1210" dirty="0"/>
          </a:p>
        </p:txBody>
      </p:sp>
      <p:sp>
        <p:nvSpPr>
          <p:cNvPr id="32" name="Shape 30"/>
          <p:cNvSpPr/>
          <p:nvPr/>
        </p:nvSpPr>
        <p:spPr>
          <a:xfrm>
            <a:off x="7242048" y="4681728"/>
            <a:ext cx="0" cy="877824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616952" y="475488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 Excel → 筛选提取 → 汇总</a:t>
            </a:r>
            <a:endParaRPr lang="en-US" sz="1210" dirty="0"/>
          </a:p>
          <a:p>
            <a:pPr indent="0" marL="0">
              <a:buNone/>
            </a:pPr>
            <a:r>
              <a:rPr lang="en-US" sz="121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新建小表并交付结果</a:t>
            </a:r>
            <a:endParaRPr lang="en-US" sz="1210" dirty="0"/>
          </a:p>
        </p:txBody>
      </p:sp>
      <p:sp>
        <p:nvSpPr>
          <p:cNvPr id="34" name="Shape 32"/>
          <p:cNvSpPr/>
          <p:nvPr/>
        </p:nvSpPr>
        <p:spPr>
          <a:xfrm>
            <a:off x="1234440" y="5961888"/>
            <a:ext cx="9710928" cy="438912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444752" y="6071616"/>
            <a:ext cx="9281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7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最直观的区别：模型给你“内容 / 方法” ｜ Agent更接近给你“处理完成的文件 / 结果”</a:t>
            </a:r>
            <a:endParaRPr lang="en-US" sz="14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第二层：Agent 到底多做了什么？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Agent不是单纯“更聪明”，而是多了一套“自主执行任务”的工作循环。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1591056" cy="214884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97864" y="2084832"/>
            <a:ext cx="530352" cy="53035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97864" y="2135124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95528" y="277977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理解目标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322783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你说想要什么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2322576" y="2697480"/>
            <a:ext cx="274320" cy="347472"/>
          </a:xfrm>
          <a:prstGeom prst="chevron">
            <a:avLst/>
          </a:prstGeom>
          <a:solidFill>
            <a:srgbClr val="B2CCFF"/>
          </a:solidFill>
          <a:ln w="12700">
            <a:solidFill>
              <a:srgbClr val="B2CCFF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560320" y="1828800"/>
            <a:ext cx="1591056" cy="214884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099816" y="2084832"/>
            <a:ext cx="530352" cy="530352"/>
          </a:xfrm>
          <a:prstGeom prst="ellipse">
            <a:avLst/>
          </a:prstGeom>
          <a:solidFill>
            <a:srgbClr val="D1FADF"/>
          </a:solidFill>
          <a:ln w="12700">
            <a:solidFill>
              <a:srgbClr val="D1FAD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099816" y="2135124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97480" y="277977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规划步骤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706624" y="322783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自己拆分任务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4224528" y="2697480"/>
            <a:ext cx="274320" cy="347472"/>
          </a:xfrm>
          <a:prstGeom prst="chevron">
            <a:avLst/>
          </a:prstGeom>
          <a:solidFill>
            <a:srgbClr val="B2CCFF"/>
          </a:solidFill>
          <a:ln w="12700">
            <a:solidFill>
              <a:srgbClr val="B2CCF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462272" y="1828800"/>
            <a:ext cx="1591056" cy="214884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001768" y="2084832"/>
            <a:ext cx="530352" cy="530352"/>
          </a:xfrm>
          <a:prstGeom prst="ellipse">
            <a:avLst/>
          </a:prstGeom>
          <a:solidFill>
            <a:srgbClr val="FEF0C7"/>
          </a:solidFill>
          <a:ln w="12700">
            <a:solidFill>
              <a:srgbClr val="FEF0C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01768" y="2135124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90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99432" y="277977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调用工具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608576" y="322783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 / 命令 / 软件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6126480" y="2697480"/>
            <a:ext cx="274320" cy="347472"/>
          </a:xfrm>
          <a:prstGeom prst="chevron">
            <a:avLst/>
          </a:prstGeom>
          <a:solidFill>
            <a:srgbClr val="B2CCFF"/>
          </a:solidFill>
          <a:ln w="12700">
            <a:solidFill>
              <a:srgbClr val="B2CCFF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364224" y="1828800"/>
            <a:ext cx="1591056" cy="214884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903720" y="2084832"/>
            <a:ext cx="530352" cy="530352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903720" y="2135124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501384" y="277977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实际执行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510528" y="322783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 / 生成 / 运行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8028432" y="2697480"/>
            <a:ext cx="274320" cy="347472"/>
          </a:xfrm>
          <a:prstGeom prst="chevron">
            <a:avLst/>
          </a:prstGeom>
          <a:solidFill>
            <a:srgbClr val="B2CCFF"/>
          </a:solidFill>
          <a:ln w="12700">
            <a:solidFill>
              <a:srgbClr val="B2CCFF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266176" y="1828800"/>
            <a:ext cx="1591056" cy="214884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805672" y="2084832"/>
            <a:ext cx="530352" cy="530352"/>
          </a:xfrm>
          <a:prstGeom prst="ellipse">
            <a:avLst/>
          </a:prstGeom>
          <a:solidFill>
            <a:srgbClr val="FEE4E2"/>
          </a:solidFill>
          <a:ln w="12700">
            <a:solidFill>
              <a:srgbClr val="FEE4E2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805672" y="2135124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44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403336" y="277977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检查结果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412480" y="322783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发现问题继续修</a:t>
            </a:r>
            <a:endParaRPr lang="en-US" sz="1130" dirty="0"/>
          </a:p>
        </p:txBody>
      </p:sp>
      <p:sp>
        <p:nvSpPr>
          <p:cNvPr id="33" name="Shape 31"/>
          <p:cNvSpPr/>
          <p:nvPr/>
        </p:nvSpPr>
        <p:spPr>
          <a:xfrm>
            <a:off x="9930384" y="2697480"/>
            <a:ext cx="274320" cy="347472"/>
          </a:xfrm>
          <a:prstGeom prst="chevron">
            <a:avLst/>
          </a:prstGeom>
          <a:solidFill>
            <a:srgbClr val="B2CCFF"/>
          </a:solidFill>
          <a:ln w="12700">
            <a:solidFill>
              <a:srgbClr val="B2CCFF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168128" y="1828800"/>
            <a:ext cx="1591056" cy="214884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707624" y="2084832"/>
            <a:ext cx="530352" cy="530352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0707624" y="2135124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0305288" y="2779776"/>
            <a:ext cx="1316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交付成果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0314432" y="322783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把结果直接给你</a:t>
            </a:r>
            <a:endParaRPr lang="en-US" sz="1130" dirty="0"/>
          </a:p>
        </p:txBody>
      </p:sp>
      <p:sp>
        <p:nvSpPr>
          <p:cNvPr id="39" name="Shape 37"/>
          <p:cNvSpPr/>
          <p:nvPr/>
        </p:nvSpPr>
        <p:spPr>
          <a:xfrm>
            <a:off x="1143000" y="4434840"/>
            <a:ext cx="9893808" cy="1078992"/>
          </a:xfrm>
          <a:prstGeom prst="roundRect">
            <a:avLst>
              <a:gd name="adj" fmla="val 6780"/>
            </a:avLst>
          </a:prstGeom>
          <a:solidFill>
            <a:srgbClr val="F5F3FF"/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444752" y="4700016"/>
            <a:ext cx="9281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 “把这个文件夹里的 30 份材料分类 → 汇总 Excel → 再做一份汇报 PPT。”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444752" y="5102352"/>
            <a:ext cx="928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模型：告诉你步骤      Agent：自己读取、处理、生成、检查，然后把文件交给你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ChatGPT 和 Codex 的区别：一个“回答”，一个“执行”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两者都来自 OpenAI，但使用方式和目标完全不同。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749808" y="1444752"/>
            <a:ext cx="51480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42416" y="1737360"/>
            <a:ext cx="841248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97280" y="1792224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51560" y="226771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ChatGPT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051560" y="29718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你： “这个程序为什么报错？”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51560" y="3547872"/>
            <a:ext cx="4224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ChatGPT：分析原因、解释问题、给修改建议或代码。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464515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典型输出：答案 / 代码 / 方法 / 建议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525780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人继续操作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91072" y="1444752"/>
            <a:ext cx="51480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583680" y="1737360"/>
            <a:ext cx="1417320" cy="38404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638544" y="1792224"/>
            <a:ext cx="1307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 · Agent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0" y="226771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583680" y="29718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你： “把这个报错修好，并确保测试通过。”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83680" y="3547872"/>
            <a:ext cx="4279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Codex：读取项目 → 修改文件 → 运行命令 / 测试 → 检查 → 继续修复。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4645152"/>
            <a:ext cx="4187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典型输出：已经改好的项目 / 可验证结果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5257800"/>
            <a:ext cx="4187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Agent完成一整段技术工作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43000" y="597103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最简单的记法：ChatGPT = “问它” ｜ Codex = “派活给它”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85216" y="6190488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来源：OpenAI Codex 官方说明；Codex 当前定位为软件开发 / 技术工作 Agent。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和 WorkBuddy：同一层，擅长的工作不同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两者都属于 Agent：都会接目标、规划步骤、调用工具并交付结果。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777240" y="1444752"/>
            <a:ext cx="5074920" cy="4535424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33272" y="1719072"/>
            <a:ext cx="1572768" cy="38404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88136" y="1773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 / 开发 Agent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33272" y="226771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051560" y="294436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主要面向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039112" y="294436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代码、项目、终端、测试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1051560" y="3474720"/>
            <a:ext cx="448056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51560" y="367588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常用工具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039112" y="367588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代码仓库 · 命令行 · IDE · 测试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1051560" y="4206240"/>
            <a:ext cx="448056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51560" y="440740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典型任务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2039112" y="440740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写脚本 / 修程序 / 自动化 / 代码审查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1051560" y="4937760"/>
            <a:ext cx="448056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51560" y="513892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价格口径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039112" y="513892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 ChatGPT 计划提供，额度按计划不同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309360" y="1444752"/>
            <a:ext cx="5074920" cy="4535424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565392" y="1719072"/>
            <a:ext cx="1572768" cy="38404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620256" y="1773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 / 桌面 Agent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65392" y="226771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6583680" y="294436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主要面向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7571232" y="294436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文档、表格、PPT、本地文件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6583680" y="3474720"/>
            <a:ext cx="448056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583680" y="367588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常用工具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7571232" y="367588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本地工作区 · 文件 · 办公工具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6583680" y="4206240"/>
            <a:ext cx="448056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583680" y="440740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典型任务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7571232" y="440740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整理材料 / 汇总Excel / 生成PPT / 批量处理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6583680" y="4937760"/>
            <a:ext cx="4480560" cy="0"/>
          </a:xfrm>
          <a:prstGeom prst="line">
            <a:avLst/>
          </a:prstGeom>
          <a:noFill/>
          <a:ln w="12700">
            <a:solidFill>
              <a:srgbClr val="EAECF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583680" y="513892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价格口径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7571232" y="5138928"/>
            <a:ext cx="3429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Free；Pro 当前 $9.95/月（促销）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1051560" y="600760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共同点：不是只“生成一段文字”，而是围绕目标执行多步任务。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585216" y="6190488"/>
            <a:ext cx="10698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8A2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来源：OpenAI Codex、Tencent WorkBuddy 官方产品说明与定价页；查询日期 2026-08-18。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放到我们部门：可以从这四类工作开始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先挑重复、耗时、规则比较明确的工作，让 AI 节省“整理和操作”的时间。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768096" y="1481328"/>
            <a:ext cx="510235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24128" y="1801368"/>
            <a:ext cx="566928" cy="566928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24128" y="1851660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755648" y="17373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文档材料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55648" y="2231136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模型：写通知、总结材料、润色汇报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1755648" y="2724912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Agent：读取多份材料 → 汇总 → 生成文档</a:t>
            </a:r>
            <a:endParaRPr lang="en-US" sz="1210" dirty="0"/>
          </a:p>
        </p:txBody>
      </p:sp>
      <p:sp>
        <p:nvSpPr>
          <p:cNvPr id="10" name="Shape 8"/>
          <p:cNvSpPr/>
          <p:nvPr/>
        </p:nvSpPr>
        <p:spPr>
          <a:xfrm>
            <a:off x="6327648" y="1481328"/>
            <a:ext cx="510235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83680" y="1801368"/>
            <a:ext cx="566928" cy="56692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83680" y="1851660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0" y="17373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汇报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0" y="2231136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模型：给框架、每页标题和文案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7315200" y="2724912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Agent：读取原材料 → 自动拆页 → 生成可编辑PPT</a:t>
            </a:r>
            <a:endParaRPr lang="en-US" sz="1210" dirty="0"/>
          </a:p>
        </p:txBody>
      </p:sp>
      <p:sp>
        <p:nvSpPr>
          <p:cNvPr id="16" name="Shape 14"/>
          <p:cNvSpPr/>
          <p:nvPr/>
        </p:nvSpPr>
        <p:spPr>
          <a:xfrm>
            <a:off x="768096" y="3703320"/>
            <a:ext cx="510235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024128" y="4023360"/>
            <a:ext cx="566928" cy="566928"/>
          </a:xfrm>
          <a:prstGeom prst="ellipse">
            <a:avLst/>
          </a:prstGeom>
          <a:solidFill>
            <a:srgbClr val="D1FADF"/>
          </a:solidFill>
          <a:ln w="12700">
            <a:solidFill>
              <a:srgbClr val="D1FAD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24128" y="4073652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55648" y="39593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数据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755648" y="4453128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模型：解释公式、分析数据、给统计思路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1755648" y="4946904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Agent：提取字段 → 分类筛选 → 汇总 → 生成小表</a:t>
            </a:r>
            <a:endParaRPr lang="en-US" sz="1210" dirty="0"/>
          </a:p>
        </p:txBody>
      </p:sp>
      <p:sp>
        <p:nvSpPr>
          <p:cNvPr id="22" name="Shape 20"/>
          <p:cNvSpPr/>
          <p:nvPr/>
        </p:nvSpPr>
        <p:spPr>
          <a:xfrm>
            <a:off x="6327648" y="3703320"/>
            <a:ext cx="510235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583680" y="4023360"/>
            <a:ext cx="566928" cy="566928"/>
          </a:xfrm>
          <a:prstGeom prst="ellipse">
            <a:avLst/>
          </a:prstGeom>
          <a:solidFill>
            <a:srgbClr val="FEF0C7"/>
          </a:solidFill>
          <a:ln w="12700">
            <a:solidFill>
              <a:srgbClr val="FEF0C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583680" y="4073652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90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⌘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315200" y="39593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技术工作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315200" y="4453128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模型：分析日志、解释命令、给排障思路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7315200" y="4946904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F790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Codex：写脚本 → 运行测试 → 修改 → 自动化</a:t>
            </a:r>
            <a:endParaRPr lang="en-US" sz="1210" dirty="0"/>
          </a:p>
        </p:txBody>
      </p:sp>
      <p:sp>
        <p:nvSpPr>
          <p:cNvPr id="28" name="Shape 26"/>
          <p:cNvSpPr/>
          <p:nvPr/>
        </p:nvSpPr>
        <p:spPr>
          <a:xfrm>
            <a:off x="1234440" y="5925312"/>
            <a:ext cx="9710928" cy="475488"/>
          </a:xfrm>
          <a:prstGeom prst="roundRect">
            <a:avLst>
              <a:gd name="adj" fmla="val 15385"/>
            </a:avLst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481328" y="6044184"/>
            <a:ext cx="9235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优先选择：输入材料明确 + 重复步骤多 + 最终结果可人工复核的任务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931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最后只记住这三句话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1440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不必研究谁的参数最高，先判断你的任务属于哪一层。</a:t>
            </a:r>
            <a:endParaRPr lang="en-US" sz="1230" dirty="0"/>
          </a:p>
        </p:txBody>
      </p:sp>
      <p:sp>
        <p:nvSpPr>
          <p:cNvPr id="4" name="Shape 2"/>
          <p:cNvSpPr/>
          <p:nvPr/>
        </p:nvSpPr>
        <p:spPr>
          <a:xfrm>
            <a:off x="1024128" y="1536192"/>
            <a:ext cx="1013155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71600" y="1856232"/>
            <a:ext cx="512064" cy="512064"/>
          </a:xfrm>
          <a:prstGeom prst="ellipse">
            <a:avLst/>
          </a:prstGeom>
          <a:solidFill>
            <a:srgbClr val="D1FADF"/>
          </a:solidFill>
          <a:ln w="12700">
            <a:solidFill>
              <a:srgbClr val="D1FAD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71600" y="1906524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103120" y="17556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B7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/ ChatGPT：负责“想”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46520" y="1764792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问答、写作、总结、分析、给方案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1024128" y="2944368"/>
            <a:ext cx="1013155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371600" y="3264408"/>
            <a:ext cx="512064" cy="512064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371600" y="3314700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103120" y="316382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/ WorkBuddy：负责“干”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46520" y="317296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规划、调用工具、执行、检查、交付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1024128" y="4352544"/>
            <a:ext cx="1013155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371600" y="4672584"/>
            <a:ext cx="512064" cy="512064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371600" y="4722876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103120" y="45720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Agent的价值：少掉中间那一堆人工操作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458114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01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未来AI竞争，不只是“谁回答更好”，而是“谁能把事情做完”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1508760" y="5596128"/>
            <a:ext cx="9189720" cy="566928"/>
          </a:xfrm>
          <a:prstGeom prst="roundRect">
            <a:avLst>
              <a:gd name="adj" fmla="val 12903"/>
            </a:avLst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783080" y="5733288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使用底线：敏感信息不随意上传；AI结果必须人工复核。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98A2B3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AI从会回答到会干活：模型与Agent</dc:title>
  <dc:subject>公共区管理部AI技术交流</dc:subject>
  <dc:creator>OpenAI</dc:creator>
  <cp:lastModifiedBy>OpenAI</cp:lastModifiedBy>
  <cp:revision>1</cp:revision>
  <dcterms:created xsi:type="dcterms:W3CDTF">2026-08-18T07:20:45Z</dcterms:created>
  <dcterms:modified xsi:type="dcterms:W3CDTF">2026-08-18T07:20:45Z</dcterms:modified>
</cp:coreProperties>
</file>